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9" r:id="rId10"/>
    <p:sldId id="270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15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80160"/>
            <a:ext cx="9144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2468880"/>
            <a:ext cx="9144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2800" i="0" dirty="0">
                <a:effectLst/>
                <a:latin typeface="Arial" panose="020B0604020202020204" pitchFamily="34" charset="0"/>
              </a:rPr>
              <a:t>Разработка интеллектуальной системы автоматической кластеризации и маршрутизации обращений граждан на основе семантического анализа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1634867" y="4377062"/>
            <a:ext cx="3657600" cy="0"/>
          </a:xfrm>
          <a:prstGeom prst="line">
            <a:avLst/>
          </a:prstGeom>
          <a:noFill/>
          <a:ln w="19050">
            <a:solidFill>
              <a:srgbClr val="1E4D9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554480" y="446538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Тричев Андрей Александрович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554480" y="228288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Магистерская ВКР · Аналитика больших данных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554481" y="4888923"/>
            <a:ext cx="4541519" cy="466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</a:t>
            </a:r>
            <a:r>
              <a:rPr lang="ru-RU" sz="14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Паточенко</a:t>
            </a:r>
            <a:r>
              <a:rPr lang="ru-RU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Евгений Анатольевич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соруководитель</a:t>
            </a: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ru-RU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Неволина Арина Станиславовна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54480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обращений граждан в муниципалитете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554480" y="1920240"/>
            <a:ext cx="2251710" cy="128016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737360" y="2057400"/>
            <a:ext cx="18859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1737360" y="2624328"/>
            <a:ext cx="188595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обращений к главе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связаны с ЖКХ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43350" y="1920240"/>
            <a:ext cx="2251710" cy="128016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26230" y="2057400"/>
            <a:ext cx="18859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дней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4126230" y="2624328"/>
            <a:ext cx="188595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ожидание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обратной связи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32220" y="1920240"/>
            <a:ext cx="2251710" cy="128016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15100" y="2057400"/>
            <a:ext cx="18859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37,6%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515100" y="2624328"/>
            <a:ext cx="188595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территории —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«серые зоны»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721090" y="1920240"/>
            <a:ext cx="2251710" cy="128016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903970" y="2057400"/>
            <a:ext cx="188595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тыс.+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8903970" y="2624328"/>
            <a:ext cx="1885950" cy="5376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муниципалитете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554480" y="3474720"/>
            <a:ext cx="9418320" cy="2286000"/>
          </a:xfrm>
          <a:prstGeom prst="roundRect">
            <a:avLst>
              <a:gd name="adj" fmla="val 4800"/>
            </a:avLst>
          </a:prstGeom>
          <a:solidFill>
            <a:srgbClr val="E8EEF7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783080" y="3611879"/>
            <a:ext cx="4732020" cy="3425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сейчас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783080" y="3950208"/>
            <a:ext cx="47320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поступают через несколько каналов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попадают в общую очередь канцелярии.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вручную определяет, в какое из 18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подразделений направить каждое обращение.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115050" y="3611880"/>
            <a:ext cx="4732020" cy="63612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06489" y="3611880"/>
            <a:ext cx="4590059" cy="63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Медленно при росте потока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115050" y="4279392"/>
            <a:ext cx="4732020" cy="63612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06489" y="4279392"/>
            <a:ext cx="4590059" cy="63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Субъективно — разные операторы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маршрутизируют по-разному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15050" y="4946904"/>
            <a:ext cx="4732020" cy="63612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06489" y="4946904"/>
            <a:ext cx="4590059" cy="63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Существующие СЭД и CRM не имеют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автоматической классификации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57" y="276832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задачи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54480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подаётся на вход, что должно быть на выходе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554480" y="192024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5875">
            <a:solidFill>
              <a:srgbClr val="D5DE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691640" y="2011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69164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обращения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гражданина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1640" y="278892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83080" y="27889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нас во дворе фонарь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горит уже месяц»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0916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4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120640" y="19202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0" y="2057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1206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72668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4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092440" y="1920240"/>
            <a:ext cx="2880360" cy="1920240"/>
          </a:xfrm>
          <a:prstGeom prst="roundRect">
            <a:avLst>
              <a:gd name="adj" fmla="val 4762"/>
            </a:avLst>
          </a:prstGeom>
          <a:solidFill>
            <a:srgbClr val="F4F7FC"/>
          </a:solidFill>
          <a:ln w="15875">
            <a:solidFill>
              <a:srgbClr val="D5DE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2960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Подразделение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администрации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229600" y="2834640"/>
            <a:ext cx="2651760" cy="914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75320" y="2852928"/>
            <a:ext cx="2362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УГХиП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освещения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554480" y="4114800"/>
            <a:ext cx="9418320" cy="1691640"/>
          </a:xfrm>
          <a:prstGeom prst="roundRect">
            <a:avLst>
              <a:gd name="adj" fmla="val 5405"/>
            </a:avLst>
          </a:prstGeom>
          <a:solidFill>
            <a:srgbClr val="E8EEF7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783080" y="4224528"/>
            <a:ext cx="918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подразделений двухуровневая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783080" y="45720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26060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 верхнего уровня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783080" y="5074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29" name="Text 25"/>
          <p:cNvSpPr/>
          <p:nvPr/>
        </p:nvSpPr>
        <p:spPr>
          <a:xfrm>
            <a:off x="260604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подразделений нижнего уровня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583680" y="4572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Дополнительное требование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583680" y="486460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регулярно меняется. Система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должна адаптироваться без переобучения.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1554480" y="1783080"/>
            <a:ext cx="9418320" cy="1280160"/>
          </a:xfrm>
          <a:prstGeom prst="roundRect">
            <a:avLst>
              <a:gd name="adj" fmla="val 8571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783080" y="1874520"/>
            <a:ext cx="9189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83080" y="2121408"/>
            <a:ext cx="9189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систему автоматической маршрутизации обращений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граждан, способную работать без переобучения при изменении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муниципальной администрации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554480" y="3337560"/>
            <a:ext cx="1773936" cy="2468880"/>
          </a:xfrm>
          <a:prstGeom prst="roundRect">
            <a:avLst>
              <a:gd name="adj" fmla="val 5155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691640" y="3520440"/>
            <a:ext cx="411480" cy="41148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916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91640" y="406908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данных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91640" y="4434840"/>
            <a:ext cx="1499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прототипные карточки 18 подразделений и тестовую разметку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65576" y="3337560"/>
            <a:ext cx="1773936" cy="2468880"/>
          </a:xfrm>
          <a:prstGeom prst="roundRect">
            <a:avLst>
              <a:gd name="adj" fmla="val 5155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02736" y="3520440"/>
            <a:ext cx="411480" cy="41148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02736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602736" y="406908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02736" y="4434840"/>
            <a:ext cx="1499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retrieval-пайплайн с двухуровневой иерархией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376672" y="3337560"/>
            <a:ext cx="1773936" cy="2468880"/>
          </a:xfrm>
          <a:prstGeom prst="roundRect">
            <a:avLst>
              <a:gd name="adj" fmla="val 5155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513832" y="3520440"/>
            <a:ext cx="411480" cy="41148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513832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513832" y="406908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13832" y="4434840"/>
            <a:ext cx="1499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beam search с cross-encoder реранкингом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287768" y="3337560"/>
            <a:ext cx="1773936" cy="2468880"/>
          </a:xfrm>
          <a:prstGeom prst="roundRect">
            <a:avLst>
              <a:gd name="adj" fmla="val 5155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424928" y="3520440"/>
            <a:ext cx="411480" cy="41148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24928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424928" y="406908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424928" y="4434840"/>
            <a:ext cx="1499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Прогнать конфигурации, измерить accuracy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198864" y="3337560"/>
            <a:ext cx="1773936" cy="2468880"/>
          </a:xfrm>
          <a:prstGeom prst="roundRect">
            <a:avLst>
              <a:gd name="adj" fmla="val 5155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336024" y="3520440"/>
            <a:ext cx="411480" cy="41148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336024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336024" y="4069080"/>
            <a:ext cx="1499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9336024" y="4434840"/>
            <a:ext cx="14996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прототип сервиса с подключением к Telegram-боту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трудности сбора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54480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Открытых датасетов нет — корпус собирался с нуля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5544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 итоге собрано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554480" y="21945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737360" y="23317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1737360" y="2798064"/>
            <a:ext cx="114300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прототипных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карточек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21945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83280" y="23317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383280" y="2798064"/>
            <a:ext cx="114300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реальных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219456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0" y="23317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5029200" y="2798064"/>
            <a:ext cx="1143000" cy="460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синтетических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обращений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554480" y="3520440"/>
            <a:ext cx="4800600" cy="22860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69164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корпуса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691640" y="3931920"/>
            <a:ext cx="45720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подразделения = </a:t>
            </a: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секции: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определение, ситуации, фразы, ключевые слова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 разметка: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реальных + 1000 синтетических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(синтетика — для </a:t>
            </a:r>
            <a:r>
              <a:rPr lang="en-US" sz="120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валидации</a:t>
            </a: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финальные метрики на 70 реальных)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8368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Трудности сбора данных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83680" y="219456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93408" y="235915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693408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132320" y="2267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Открытых данных нет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132320" y="25786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Российские датасеты по обращениям отсутствуют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583680" y="310896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693408" y="327355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93408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132320" y="3182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примеры — на бумаге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132320" y="3493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Кипы бумаги, переписывали вручную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583680" y="402336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693408" y="418795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693408" y="4187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7132320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размер выборки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132320" y="44074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месяцы — только 70 размеченных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583680" y="4937760"/>
            <a:ext cx="4572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693408" y="510235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693408" y="51023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7132320" y="50109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переписывались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7132320" y="5321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итераций — приоритет реальных тестов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Подход: retrieval вместо параметрики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54480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архитектурное решение работы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554480" y="1874520"/>
            <a:ext cx="4983480" cy="3246120"/>
          </a:xfrm>
          <a:prstGeom prst="roundRect">
            <a:avLst>
              <a:gd name="adj" fmla="val 3380"/>
            </a:avLst>
          </a:prstGeom>
          <a:solidFill>
            <a:srgbClr val="FFF8F8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7373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Параметрический классификатор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73736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LogReg, BERT и подобные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73736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01168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знание о классах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9768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весах модели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737360" y="3246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01168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подразделение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9768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переобучать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73736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01168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Размеченные данные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297680" y="3794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на каждый класс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737360" y="4343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01168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структуры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297680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переобучения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720840" y="1874520"/>
            <a:ext cx="4251960" cy="3246120"/>
          </a:xfrm>
          <a:prstGeom prst="roundRect">
            <a:avLst>
              <a:gd name="adj" fmla="val 3380"/>
            </a:avLst>
          </a:prstGeom>
          <a:solidFill>
            <a:srgbClr val="F1FAF4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03720" y="20116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Retrieval-классификация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903720" y="2286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поиск по карточкам подразделений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037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17804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знание о классах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464040" y="2697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векторном индексе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903720" y="3246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17804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подразделение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946404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карточку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90372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17804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Размеченные данные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9464040" y="37947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требуются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903720" y="4343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178040" y="4343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структуры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9464040" y="4343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переобучения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Box 5"/>
          <p:cNvSpPr txBox="1"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A1F4A"/>
                </a:solidFill>
                <a:latin typeface="Calibri"/>
              </a:rPr>
              <a:t>Как работает: baseline → финал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8686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B7E"/>
                </a:solidFill>
                <a:latin typeface="Calibri"/>
              </a:rPr>
              <a:t>Минимальная схема — 4 этапа, что меняется на каждом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950000"/>
            <a:ext cx="3945880" cy="36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50000"/>
            <a:ext cx="3945880" cy="36000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300" b="1">
                <a:solidFill>
                  <a:srgbClr val="5B6B7E"/>
                </a:solidFill>
                <a:latin typeface="Calibri"/>
              </a:rPr>
              <a:t>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6000" y="1950000"/>
            <a:ext cx="3945880" cy="360000"/>
          </a:xfrm>
          <a:prstGeom prst="roundRect">
            <a:avLst>
              <a:gd name="adj" fmla="val 6000"/>
            </a:avLst>
          </a:prstGeom>
          <a:solidFill>
            <a:srgbClr val="0A1F4A"/>
          </a:solidFill>
          <a:ln w="635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86000" y="1950000"/>
            <a:ext cx="3945880" cy="36000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ФИНАЛ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6000" y="2530000"/>
            <a:ext cx="1900000" cy="795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6000" y="2530000"/>
            <a:ext cx="1740000" cy="79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A1F4A"/>
                </a:solidFill>
                <a:latin typeface="Calibri"/>
              </a:rPr>
              <a:t>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530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0120" y="2610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Плоский поиск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B6B7E"/>
                </a:solidFill>
                <a:latin typeface="Calibri"/>
              </a:rPr>
              <a:t>top-8 чанков, 1 уровень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6000" y="2530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86000" y="2610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F4A"/>
                </a:solidFill>
                <a:latin typeface="Calibri"/>
              </a:rPr>
              <a:t>Иерархический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F2937"/>
                </a:solidFill>
                <a:latin typeface="Calibri"/>
              </a:rPr>
              <a:t>L1 (dept) + adaptive prune → 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6000" y="3505000"/>
            <a:ext cx="1900000" cy="795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26000" y="3505000"/>
            <a:ext cx="1740000" cy="79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A1F4A"/>
                </a:solidFill>
                <a:latin typeface="Calibri"/>
              </a:rPr>
              <a:t>Кандидаты
для 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505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0120" y="3585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4 кандидата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B6B7E"/>
                </a:solidFill>
                <a:latin typeface="Calibri"/>
              </a:rPr>
              <a:t>diversify per dept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6000" y="3505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6000" y="3585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F4A"/>
                </a:solidFill>
                <a:latin typeface="Calibri"/>
              </a:rPr>
              <a:t>10 кандидатов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F2937"/>
                </a:solidFill>
                <a:latin typeface="Calibri"/>
              </a:rPr>
              <a:t>diversify per subdept — больше материала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6000" y="4480000"/>
            <a:ext cx="1900000" cy="795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26000" y="4480000"/>
            <a:ext cx="1740000" cy="79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A1F4A"/>
                </a:solidFill>
                <a:latin typeface="Calibri"/>
              </a:rPr>
              <a:t>Cross-encoder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480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60120" y="4560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Сырой текст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B6B7E"/>
                </a:solidFill>
                <a:latin typeface="Calibri"/>
              </a:rPr>
              <a:t>путается на пересекающейся лексике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6000" y="4480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86000" y="4560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F4A"/>
                </a:solidFill>
                <a:latin typeface="Calibri"/>
              </a:rPr>
              <a:t>Контекстная инжекция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F2937"/>
                </a:solidFill>
                <a:latin typeface="Calibri"/>
              </a:rPr>
              <a:t>«{Dept}. {Sub}.» — снимает двусмысленность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6000" y="5455000"/>
            <a:ext cx="1900000" cy="795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6000" y="5455000"/>
            <a:ext cx="1740000" cy="79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A1F4A"/>
                </a:solidFill>
                <a:latin typeface="Calibri"/>
              </a:rPr>
              <a:t>Confidence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5455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60120" y="5535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2 порога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B6B7E"/>
                </a:solidFill>
                <a:latin typeface="Calibri"/>
              </a:rPr>
              <a:t>high / medium — не отличает OOS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6000" y="5455000"/>
            <a:ext cx="3945880" cy="79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86000" y="5535000"/>
            <a:ext cx="3545880" cy="635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A1F4A"/>
                </a:solidFill>
                <a:latin typeface="Calibri"/>
              </a:rPr>
              <a:t>3 слоя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1F2937"/>
                </a:solidFill>
                <a:latin typeface="Calibri"/>
              </a:rPr>
              <a:t>OOS-floor / gap-min / score+gap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10378440" y="914400"/>
            <a:ext cx="0" cy="365760"/>
          </a:xfrm>
          <a:prstGeom prst="line">
            <a:avLst/>
          </a:prstGeom>
          <a:ln w="6350">
            <a:solidFill>
              <a:srgbClr val="5B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B7E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A1F4A"/>
                </a:solidFill>
                <a:latin typeface="Calibri"/>
              </a:rPr>
              <a:t>Метрики качества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95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B7E"/>
                </a:solidFill>
                <a:latin typeface="Calibri"/>
              </a:rPr>
              <a:t>Что измеряем и почему именно эти 4 метрики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900000"/>
            <a:ext cx="4995940" cy="208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20" y="2180000"/>
            <a:ext cx="435594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F4A"/>
                </a:solidFill>
                <a:latin typeface="Calibri"/>
              </a:rPr>
              <a:t>Accuracy (subdept)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20" y="2560000"/>
            <a:ext cx="435594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B6B7E"/>
                </a:solidFill>
                <a:latin typeface="Calibri"/>
              </a:rPr>
              <a:t>главная метрика классификации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20" y="2900000"/>
            <a:ext cx="435594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Доля обращений, направленных в правильное из 18 подразделений. Это и есть «маршрутизация» — одна понятная для комиссии цифра.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060" y="1900000"/>
            <a:ext cx="4995940" cy="208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060" y="2180000"/>
            <a:ext cx="435594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F4A"/>
                </a:solidFill>
                <a:latin typeface="Calibri"/>
              </a:rPr>
              <a:t>Effective F1 macro (sub)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060" y="2560000"/>
            <a:ext cx="435594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B6B7E"/>
                </a:solidFill>
                <a:latin typeface="Calibri"/>
              </a:rPr>
              <a:t>честное качество с поправкой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060" y="2900000"/>
            <a:ext cx="435594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F1 с учётом отказов в unknown и равным весом всех 18 классов. Не даёт «крупным» субдепам занижать оценку и учитывает дисбаланс.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220000"/>
            <a:ext cx="4995940" cy="20800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20" y="4500000"/>
            <a:ext cx="435594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F4A"/>
                </a:solidFill>
                <a:latin typeface="Calibri"/>
              </a:rPr>
              <a:t>OOS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20" y="4880000"/>
            <a:ext cx="435594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B6B7E"/>
                </a:solidFill>
                <a:latin typeface="Calibri"/>
              </a:rPr>
              <a:t>отказоустойчивость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20" y="5220000"/>
            <a:ext cx="435594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На out-of-scope синтетике (запросы не про муниципалитет) — доля правильно отправленных в unknown. «Знает, что не знает».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060" y="4220000"/>
            <a:ext cx="4995940" cy="2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060" y="4500000"/>
            <a:ext cx="435594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A1F4A"/>
                </a:solidFill>
                <a:latin typeface="Calibri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060" y="4880000"/>
            <a:ext cx="435594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5B6B7E"/>
                </a:solidFill>
                <a:latin typeface="Calibri"/>
              </a:rPr>
              <a:t>практичность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060" y="5220000"/>
            <a:ext cx="435594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Время одного запроса end-to-end на CPU, без GPU. Должно укладываться в полу-реалтайм для оператора.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10378440" y="914400"/>
            <a:ext cx="0" cy="365760"/>
          </a:xfrm>
          <a:prstGeom prst="line">
            <a:avLst/>
          </a:prstGeom>
          <a:ln w="6350">
            <a:solidFill>
              <a:srgbClr val="5B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B7E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A1F4A"/>
                </a:solidFill>
                <a:latin typeface="Calibri"/>
              </a:rPr>
              <a:t>Эксперименты на живых обращениях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95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B7E"/>
                </a:solidFill>
                <a:latin typeface="Calibri"/>
              </a:rPr>
              <a:t>70 размеченных запросов от граждан · baseline → финал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900000"/>
            <a:ext cx="497594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1900000"/>
            <a:ext cx="4975940" cy="460000"/>
          </a:xfrm>
          <a:prstGeom prst="roundRect">
            <a:avLst>
              <a:gd name="adj" fmla="val 6000"/>
            </a:avLst>
          </a:prstGeom>
          <a:solidFill>
            <a:srgbClr val="5B6B7E"/>
          </a:solidFill>
          <a:ln w="6350">
            <a:solidFill>
              <a:srgbClr val="5B6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0120" y="1990000"/>
            <a:ext cx="158537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Calibri"/>
              </a:rPr>
              <a:t>Контрольный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сетап</a:t>
            </a:r>
            <a:endParaRPr sz="14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FFFFFF"/>
                </a:solidFill>
                <a:latin typeface="Calibri"/>
              </a:rPr>
              <a:t>70 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живых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× </a:t>
            </a:r>
            <a:r>
              <a:rPr lang="ru-RU" sz="1000" b="0" dirty="0">
                <a:solidFill>
                  <a:srgbClr val="FFFFFF"/>
                </a:solidFill>
                <a:latin typeface="Calibri"/>
              </a:rPr>
              <a:t>УГХ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· 1 dept, 6 sub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20" y="2480000"/>
            <a:ext cx="224797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Calibri"/>
              </a:rPr>
              <a:t>Метрика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8089" y="2479999"/>
            <a:ext cx="112715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B6B7E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482" y="2493953"/>
            <a:ext cx="126805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 err="1">
                <a:solidFill>
                  <a:srgbClr val="5B6B7E"/>
                </a:solidFill>
                <a:latin typeface="Calibri"/>
              </a:rPr>
              <a:t>Финал</a:t>
            </a:r>
            <a:endParaRPr sz="1000" b="1" dirty="0">
              <a:solidFill>
                <a:srgbClr val="5B6B7E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0120" y="3039333"/>
            <a:ext cx="224797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A1F4A"/>
                </a:solidFill>
                <a:latin typeface="Calibri"/>
              </a:rPr>
              <a:t> Accuracy (</a:t>
            </a:r>
            <a:r>
              <a:rPr sz="1200" b="1" dirty="0" err="1">
                <a:solidFill>
                  <a:srgbClr val="0A1F4A"/>
                </a:solidFill>
                <a:latin typeface="Calibri"/>
              </a:rPr>
              <a:t>subdept</a:t>
            </a:r>
            <a:r>
              <a:rPr sz="1200" b="1" dirty="0">
                <a:solidFill>
                  <a:srgbClr val="0A1F4A"/>
                </a:solidFill>
                <a:latin typeface="Calibri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8089" y="3159329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0.686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2481" y="3173283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0.857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00120" y="3383333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00120" y="3443333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Routing F1 macro (sub)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89" y="3682662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0.562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2481" y="3696616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0.709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00120" y="3906666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00120" y="3966666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Eff. F1 weighted (sub)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8089" y="4205995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0.705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2481" y="4219949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0.857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00120" y="4429999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00120" y="4489999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Ошибки (по sub)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8089" y="4729328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2481" y="4743282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00120" y="4953332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00120" y="5013332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Calibri"/>
              </a:rPr>
              <a:t>High confidence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8089" y="5252661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2481" y="5266615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100%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00120" y="5476665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00120" y="5536665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Latency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8089" y="5775994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637 мс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2481" y="5789948"/>
            <a:ext cx="112715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985 мс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55941" y="1914480"/>
            <a:ext cx="4975939" cy="43000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256060" y="1900000"/>
            <a:ext cx="4975940" cy="460000"/>
          </a:xfrm>
          <a:prstGeom prst="roundRect">
            <a:avLst>
              <a:gd name="adj" fmla="val 6000"/>
            </a:avLst>
          </a:prstGeom>
          <a:solidFill>
            <a:srgbClr val="0A1F4A"/>
          </a:solidFill>
          <a:ln w="635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6060" y="1990000"/>
            <a:ext cx="1909177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Calibri"/>
              </a:rPr>
              <a:t>Основной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сетап</a:t>
            </a:r>
            <a:endParaRPr sz="14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000" b="0" dirty="0">
                <a:solidFill>
                  <a:srgbClr val="FFFFFF"/>
                </a:solidFill>
                <a:latin typeface="Calibri"/>
              </a:rPr>
              <a:t>70 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живых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× </a:t>
            </a:r>
            <a:r>
              <a:rPr lang="ru-RU" sz="1000" dirty="0">
                <a:solidFill>
                  <a:srgbClr val="FFFFFF"/>
                </a:solidFill>
                <a:latin typeface="Calibri"/>
              </a:rPr>
              <a:t>Полный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· 4 dept, 18 sub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6060" y="2480000"/>
            <a:ext cx="2247970" cy="2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Calibri"/>
              </a:rPr>
              <a:t>Метрика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44030" y="2479999"/>
            <a:ext cx="95613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5B6B7E"/>
                </a:solidFill>
                <a:latin typeface="Calibri"/>
              </a:rPr>
              <a:t>Baseline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036" y="2486981"/>
            <a:ext cx="11628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 err="1">
                <a:solidFill>
                  <a:srgbClr val="5B6B7E"/>
                </a:solidFill>
                <a:latin typeface="Calibri"/>
              </a:rPr>
              <a:t>Финал</a:t>
            </a:r>
            <a:endParaRPr sz="1000" b="1" dirty="0">
              <a:solidFill>
                <a:srgbClr val="5B6B7E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496060" y="3039333"/>
            <a:ext cx="224797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A1F4A"/>
                </a:solidFill>
                <a:latin typeface="Calibri"/>
              </a:rPr>
              <a:t> Accuracy (</a:t>
            </a:r>
            <a:r>
              <a:rPr sz="1200" b="1" dirty="0" err="1">
                <a:solidFill>
                  <a:srgbClr val="0A1F4A"/>
                </a:solidFill>
                <a:latin typeface="Calibri"/>
              </a:rPr>
              <a:t>subdept</a:t>
            </a:r>
            <a:r>
              <a:rPr sz="1200" b="1" dirty="0">
                <a:solidFill>
                  <a:srgbClr val="0A1F4A"/>
                </a:solidFill>
                <a:latin typeface="Calibri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44029" y="3109005"/>
            <a:ext cx="95613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0.543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035" y="3142664"/>
            <a:ext cx="11628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0.814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96060" y="3383333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96060" y="3443333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Accuracy (dept)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44029" y="3632338"/>
            <a:ext cx="95613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0.757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9035" y="3665997"/>
            <a:ext cx="11628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0.886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96060" y="3906666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96060" y="4085999"/>
            <a:ext cx="224797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A1F4A"/>
                </a:solidFill>
                <a:latin typeface="Calibri"/>
              </a:rPr>
              <a:t> Eff. F1 macro (sub)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44029" y="4155671"/>
            <a:ext cx="95613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0.501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035" y="4189330"/>
            <a:ext cx="11628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0.722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96060" y="4429999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496060" y="4489999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Ошибки (по sub)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44029" y="4679004"/>
            <a:ext cx="95613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32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29035" y="4712663"/>
            <a:ext cx="11628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13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496060" y="4953332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496060" y="5132665"/>
            <a:ext cx="224797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A1F4A"/>
                </a:solidFill>
                <a:latin typeface="Calibri"/>
              </a:rPr>
              <a:t> High confidence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44029" y="5202337"/>
            <a:ext cx="95613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23%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29035" y="5195996"/>
            <a:ext cx="11628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89%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496060" y="5476665"/>
            <a:ext cx="4495940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496060" y="5536665"/>
            <a:ext cx="2247970" cy="423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Latency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44029" y="5725670"/>
            <a:ext cx="95613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631 мс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29035" y="5719329"/>
            <a:ext cx="116284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>
                <a:solidFill>
                  <a:srgbClr val="0A1F4A"/>
                </a:solidFill>
                <a:latin typeface="Calibri"/>
              </a:rPr>
              <a:t>1337 </a:t>
            </a:r>
            <a:r>
              <a:rPr sz="1200" b="1" dirty="0" err="1">
                <a:solidFill>
                  <a:srgbClr val="0A1F4A"/>
                </a:solidFill>
                <a:latin typeface="Calibri"/>
              </a:rPr>
              <a:t>мс</a:t>
            </a:r>
            <a:endParaRPr sz="1200" b="1" dirty="0">
              <a:solidFill>
                <a:srgbClr val="0A1F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10378440" y="914400"/>
            <a:ext cx="0" cy="365760"/>
          </a:xfrm>
          <a:prstGeom prst="line">
            <a:avLst/>
          </a:prstGeom>
          <a:ln w="6350">
            <a:solidFill>
              <a:srgbClr val="5B6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5B6B7E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0A1F4A"/>
                </a:solidFill>
                <a:latin typeface="Calibri"/>
              </a:rPr>
              <a:t>Эксперименты на out-of-scope синтетике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95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B7E"/>
                </a:solidFill>
                <a:latin typeface="Calibri"/>
              </a:rPr>
              <a:t>1000 синтетических запросов не про муниципалитет · правильный ответ — unknown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53556"/>
            <a:ext cx="10615581" cy="38464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1948520"/>
            <a:ext cx="10615581" cy="411480"/>
          </a:xfrm>
          <a:prstGeom prst="roundRect">
            <a:avLst>
              <a:gd name="adj" fmla="val 6000"/>
            </a:avLst>
          </a:prstGeom>
          <a:solidFill>
            <a:srgbClr val="0A1F4A"/>
          </a:solidFill>
          <a:ln w="6350">
            <a:solidFill>
              <a:srgbClr val="0A1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5860" y="1981981"/>
            <a:ext cx="981548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1000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синтетических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OOS</a:t>
            </a:r>
          </a:p>
          <a:p>
            <a:pPr algn="l"/>
            <a:r>
              <a:rPr sz="1000" b="0" dirty="0" err="1">
                <a:solidFill>
                  <a:srgbClr val="FFFFFF"/>
                </a:solidFill>
                <a:latin typeface="Calibri"/>
              </a:rPr>
              <a:t>запросы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не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про</a:t>
            </a:r>
            <a:r>
              <a:rPr sz="1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FFFFFF"/>
                </a:solidFill>
                <a:latin typeface="Calibri"/>
              </a:rPr>
              <a:t>муниципалитет</a:t>
            </a:r>
            <a:endParaRPr sz="1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0120" y="2566378"/>
            <a:ext cx="49077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5B6B7E"/>
                </a:solidFill>
                <a:latin typeface="Calibri"/>
              </a:rPr>
              <a:t>Метрика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8994" y="2558040"/>
            <a:ext cx="214586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dirty="0">
                <a:solidFill>
                  <a:srgbClr val="5B6B7E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794" y="2489434"/>
            <a:ext cx="3423805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5B6B7E"/>
                </a:solidFill>
                <a:latin typeface="Calibri"/>
              </a:rPr>
              <a:t>Финал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20" y="3011691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A1F4A"/>
                </a:solidFill>
                <a:latin typeface="Calibri"/>
              </a:rPr>
              <a:t> OOS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8994" y="3047447"/>
            <a:ext cx="21458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7794" y="2995582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0.818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1200120" y="3308571"/>
            <a:ext cx="9815483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00120" y="3378310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Accuracy (subdept)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8994" y="3496018"/>
            <a:ext cx="21458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0.593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794" y="3444153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0.739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1200120" y="3757142"/>
            <a:ext cx="9815483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00120" y="3826881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Accuracy (dept)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8994" y="3944589"/>
            <a:ext cx="21458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0.730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7794" y="3892724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0.870</a:t>
            </a:r>
          </a:p>
        </p:txBody>
      </p:sp>
      <p:cxnSp>
        <p:nvCxnSpPr>
          <p:cNvPr id="29" name="Connector 28"/>
          <p:cNvCxnSpPr>
            <a:cxnSpLocks/>
          </p:cNvCxnSpPr>
          <p:nvPr/>
        </p:nvCxnSpPr>
        <p:spPr>
          <a:xfrm>
            <a:off x="1200120" y="4205713"/>
            <a:ext cx="9815483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00120" y="4275452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Eff. F1 macro (sub)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28994" y="4393160"/>
            <a:ext cx="21458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0.593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7794" y="4301295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0.627</a:t>
            </a:r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>
            <a:off x="1200120" y="4654284"/>
            <a:ext cx="9815483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00120" y="4724023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Ошибки (по sub)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28994" y="4801731"/>
            <a:ext cx="21458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406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7794" y="4749866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260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>
            <a:off x="1200120" y="5102855"/>
            <a:ext cx="9815483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00120" y="5254546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0A1F4A"/>
                </a:solidFill>
                <a:latin typeface="Calibri"/>
              </a:rPr>
              <a:t> High confidence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28994" y="5250302"/>
            <a:ext cx="21458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67%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67794" y="5198437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56%</a:t>
            </a:r>
          </a:p>
        </p:txBody>
      </p:sp>
      <p:cxnSp>
        <p:nvCxnSpPr>
          <p:cNvPr id="44" name="Connector 43"/>
          <p:cNvCxnSpPr>
            <a:cxnSpLocks/>
          </p:cNvCxnSpPr>
          <p:nvPr/>
        </p:nvCxnSpPr>
        <p:spPr>
          <a:xfrm>
            <a:off x="1200120" y="5551426"/>
            <a:ext cx="9815483" cy="0"/>
          </a:xfrm>
          <a:prstGeom prst="line">
            <a:avLst/>
          </a:prstGeom>
          <a:ln w="5080">
            <a:solidFill>
              <a:srgbClr val="D5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00120" y="5621165"/>
            <a:ext cx="49077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Latency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40493" y="5663404"/>
            <a:ext cx="1287361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B6B7E"/>
                </a:solidFill>
                <a:latin typeface="Calibri"/>
              </a:rPr>
              <a:t>475 мс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67794" y="5647008"/>
            <a:ext cx="342380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A1F4A"/>
                </a:solidFill>
                <a:latin typeface="Calibri"/>
              </a:rPr>
              <a:t>1126 мс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Сервисная часть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54480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реализовано в рамках работы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5544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реализовано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554480" y="219456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691640" y="2313432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A1F4A"/>
          </a:solidFill>
          <a:ln w="12700">
            <a:solidFill>
              <a:srgbClr val="0A1F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691640" y="23134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017520" y="22402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Python-модулей: эмбеддинг, retrieval, beam search, cross-encoder, confidence-логика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554480" y="297180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691640" y="3090672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A1F4A"/>
          </a:solidFill>
          <a:ln w="12700">
            <a:solidFill>
              <a:srgbClr val="0A1F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691640" y="30906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preambles/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017520" y="30175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прототипных карточек: 4 управления + 18 подразделений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1554480" y="374904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691640" y="3867912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A1F4A"/>
          </a:solidFill>
          <a:ln w="12700">
            <a:solidFill>
              <a:srgbClr val="0A1F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691640" y="386791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017520" y="37947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CLI-прогон: на вход обращение, на выход top-K + confidence в JSON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554480" y="45262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691640" y="4645152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0A1F4A"/>
          </a:solidFill>
          <a:ln w="12700">
            <a:solidFill>
              <a:srgbClr val="0A1F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691640" y="464515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bot/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017520" y="45720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Telegram-бот: реализован, обращения обрабатываются пайплайном из коробки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766560" y="1828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Будущий UI оператора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766560" y="219456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pic>
        <p:nvPicPr>
          <p:cNvPr id="29" name="Image 2" descr="/home/claude/pres2/ui_rag_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286000"/>
            <a:ext cx="4023360" cy="32004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66560" y="5623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Веб-панель оператора: мониторинг точности, fallback-обращения, ручная коррекция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1554480" y="178308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16916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691640" y="233172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9000" dirty="0"/>
          </a:p>
        </p:txBody>
      </p:sp>
      <p:sp>
        <p:nvSpPr>
          <p:cNvPr id="10" name="Text 6"/>
          <p:cNvSpPr/>
          <p:nvPr/>
        </p:nvSpPr>
        <p:spPr>
          <a:xfrm>
            <a:off x="169164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на подразделении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(FULL: 4 управления,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подразделений, 70 обращений)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60720" y="1783080"/>
            <a:ext cx="5413248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5943600" y="2075688"/>
            <a:ext cx="594360" cy="59436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94360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72084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 достигнута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720840" y="2331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подразделение добавляется одной карточкой — без переобучения и без новой разметки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60720" y="3154680"/>
            <a:ext cx="5413248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5943600" y="3447288"/>
            <a:ext cx="594360" cy="59436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943600" y="3447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72084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снижает ошибки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20840" y="3703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Двухуровневый retrieval, контекстная инжекция в CE и трёхслойная confidence: +27 pp accuracy и +82 pp на OOS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760720" y="4526280"/>
            <a:ext cx="5413248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5943600" y="4818888"/>
            <a:ext cx="594360" cy="594360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5943600" y="48188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720840" y="46908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+ Telegram-бот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720840" y="50749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пайплайн на CPU и работающий бот — основа для производственного развёртывания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res2/hs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464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pres2/hs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9601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2416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378440" y="914400"/>
            <a:ext cx="0" cy="365760"/>
          </a:xfrm>
          <a:prstGeom prst="line">
            <a:avLst/>
          </a:prstGeom>
          <a:noFill/>
          <a:ln w="6350">
            <a:solidFill>
              <a:srgbClr val="5B6B7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448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Дальнейшее развитие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554480" y="14173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планируется реализовать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554480" y="1783080"/>
            <a:ext cx="9418320" cy="438912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73352" y="1851811"/>
            <a:ext cx="292608" cy="292608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673352" y="1856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148840" y="1796947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эмбеддера и реранкера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577840" y="1796947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</a:t>
            </a:r>
            <a:r>
              <a:rPr lang="ru-RU" sz="9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энкодера</a:t>
            </a:r>
            <a:r>
              <a:rPr lang="ru-RU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собранном корпусе обращений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554480" y="2252037"/>
            <a:ext cx="9418320" cy="438912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673352" y="2354731"/>
            <a:ext cx="292608" cy="292608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673352" y="2359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48840" y="2299867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корпуса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577840" y="2299867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на потоке через бота · доразметка реальных обращений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1554480" y="2754957"/>
            <a:ext cx="9418320" cy="438912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673352" y="2857651"/>
            <a:ext cx="292608" cy="292608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673352" y="28620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148840" y="2802787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Полноценный UI оператора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577840" y="2802787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Веб-панель: мониторинг, ручная коррекция fallback-обращений, аналитика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554480" y="3257877"/>
            <a:ext cx="9418320" cy="438912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673352" y="3360571"/>
            <a:ext cx="292608" cy="292608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673352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148840" y="3305707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MAX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577840" y="3305707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отечественным мессенджером MAX в дополнение к Telegram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1554480" y="3760797"/>
            <a:ext cx="9418320" cy="438912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673352" y="3863491"/>
            <a:ext cx="292608" cy="292608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673352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2148840" y="3808627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уровень иерархии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577840" y="3808627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до </a:t>
            </a:r>
            <a:r>
              <a:rPr lang="en-US" sz="9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конкретного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1554480" y="4263717"/>
            <a:ext cx="9418320" cy="438911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673352" y="4370832"/>
            <a:ext cx="292608" cy="292607"/>
          </a:xfrm>
          <a:prstGeom prst="ellipse">
            <a:avLst/>
          </a:prstGeom>
          <a:solidFill>
            <a:srgbClr val="102D69"/>
          </a:solidFill>
          <a:ln w="12700">
            <a:solidFill>
              <a:srgbClr val="102D6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673352" y="4366411"/>
            <a:ext cx="292608" cy="2926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2148840" y="4311547"/>
            <a:ext cx="3383280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Пилотное внедрение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577840" y="4311547"/>
            <a:ext cx="5486400" cy="402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в администрации г. Феодосии · сбор обратной связи от операторов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1673352" y="4873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1554480" y="5486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1083</Words>
  <Application>Microsoft Macintosh PowerPoint</Application>
  <PresentationFormat>Широкоэкранный</PresentationFormat>
  <Paragraphs>322</Paragraphs>
  <Slides>13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ВКР — Тричев (ВШЭ)</dc:title>
  <dc:subject>PptxGenJS Presentation</dc:subject>
  <dc:creator>PptxGenJS</dc:creator>
  <cp:lastModifiedBy>Андрей</cp:lastModifiedBy>
  <cp:revision>3</cp:revision>
  <dcterms:created xsi:type="dcterms:W3CDTF">2026-05-06T16:57:41Z</dcterms:created>
  <dcterms:modified xsi:type="dcterms:W3CDTF">2026-05-07T08:57:56Z</dcterms:modified>
</cp:coreProperties>
</file>